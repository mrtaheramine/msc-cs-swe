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notes: A cloud-native, privacy-aware cybersecurity readiness assessment</a:t>
            </a:r>
          </a:p>
          <a:p>
            <a:r>
              <a:t>MSc Software Engineering · Taher Amine ELHOUARI Explain the substantive detail in the accompanying ten-minute demo script. Show actual working UI and explain any unverified deployment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notes: Resource-constrained teams have difficulty turning broad cybersecurity guidance into decisions.</a:t>
            </a:r>
          </a:p>
          <a:p>
            <a:r>
              <a:t>Our response: 18 clear questions, six functions, three prioritized actions. Explain the substantive detail in the accompanying ten-minute demo script. Show actual working UI and explain any unverified deployment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notes: NIST CSF 2.0: six outcome areas</a:t>
            </a:r>
          </a:p>
          <a:p>
            <a:r>
              <a:t>NIST SP 1300: small-business entry point</a:t>
            </a:r>
          </a:p>
          <a:p>
            <a:r>
              <a:t>CISA CPGs: achievable high-impact measures</a:t>
            </a:r>
          </a:p>
          <a:p>
            <a:r>
              <a:t>OWASP ASVS: web application security mindset Explain the substantive detail in the accompanying ten-minute demo script. Show actual working UI and explain any unverified deployment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notes: Browser interface → Vercel edge/static delivery → Node.js API → validated scoring</a:t>
            </a:r>
          </a:p>
          <a:p>
            <a:r>
              <a:t>No active persistence; PostgreSQL is a future-only design option. Explain the substantive detail in the accompanying ten-minute demo script. Show actual working UI and explain any unverified deployment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notes: Visit home page → start assessment → answer 18 questions → calculate readiness → explore priorities → save to PDF Explain the substantive detail in the accompanying ten-minute demo script. Show actual working UI and explain any unverified deployment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notes: Domain = sum of three responses ÷ 12 × 100</a:t>
            </a:r>
          </a:p>
          <a:p>
            <a:r>
              <a:t>Overall = mean of six domain results</a:t>
            </a:r>
          </a:p>
          <a:p>
            <a:r>
              <a:t>Project-defined bands: Initial · Developing · Defined · Adaptive Explain the substantive detail in the accompanying ten-minute demo script. Show actual working UI and explain any unverified deployment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notes: Strict API validation and method checks</a:t>
            </a:r>
          </a:p>
          <a:p>
            <a:r>
              <a:t>No application-level response storage</a:t>
            </a:r>
          </a:p>
          <a:p>
            <a:r>
              <a:t>No-store API responses, restrictive browser headers</a:t>
            </a:r>
          </a:p>
          <a:p>
            <a:r>
              <a:t>No claim of formal compliance or certification Explain the substantive detail in the accompanying ten-minute demo script. Show actual working UI and explain any unverified deployment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notes: 8 of 8 local unit tests passed</a:t>
            </a:r>
          </a:p>
          <a:p>
            <a:r>
              <a:t>GET /api/health returned 200 and expected JSON</a:t>
            </a:r>
          </a:p>
          <a:p>
            <a:r>
              <a:t>Home page returned HTTP 200 locally</a:t>
            </a:r>
          </a:p>
          <a:p>
            <a:r>
              <a:t>Public Vercel release is NOT VERIFIED Explain the substantive detail in the accompanying ten-minute demo script. Show actual working UI and explain any unverified deployment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notes: 18 self-reported questions are not a professional assessment</a:t>
            </a:r>
          </a:p>
          <a:p>
            <a:r>
              <a:t>Future: tenant-specific history, evidence, access controls, monitoring</a:t>
            </a:r>
          </a:p>
          <a:p>
            <a:r>
              <a:t>Cloud project creation blocked by permissions — public deploy pending Explain the substantive detail in the accompanying ten-minute demo script. Show actual working UI and explain any unverified deployment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notes: Source code · tests · architecture visual · report · ten-minute script</a:t>
            </a:r>
          </a:p>
          <a:p>
            <a:r>
              <a:t>Record and link the demo; publish and verify the actual production URL Explain the substantive detail in the accompanying ten-minute demo script. Show actual working UI and explain any unverified deployment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 b="1">
                <a:solidFill>
                  <a:srgbClr val="43E5C5"/>
                </a:solidFill>
                <a:latin typeface="Aptos"/>
              </a:defRPr>
            </a:pPr>
            <a:r>
              <a:t>CYBERRESILIENCE CLOUD   /   SOFTWARE ENGINEERING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700" b="1">
                <a:solidFill>
                  <a:srgbClr val="FFFFFF"/>
                </a:solidFill>
                <a:latin typeface="Aptos"/>
              </a:defRPr>
            </a:pPr>
            <a:r>
              <a:t>CyberResilience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D5E5F1"/>
                </a:solidFill>
                <a:latin typeface="Aptos"/>
              </a:defRPr>
            </a:pPr>
            <a:r>
              <a:t>A cloud-native, privacy-aware cybersecurity readiness assessment</a:t>
            </a:r>
          </a:p>
          <a:p>
            <a:pPr>
              <a:spcAft>
                <a:spcPts val="1300"/>
              </a:spcAft>
              <a:defRPr sz="2200" b="0">
                <a:solidFill>
                  <a:srgbClr val="D5E5F1"/>
                </a:solidFill>
                <a:latin typeface="Aptos"/>
              </a:defRPr>
            </a:pPr>
            <a:r>
              <a:t>MSc Software Engineering · Taher Amine ELHOUARI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8FA6BE"/>
                </a:solidFill>
                <a:latin typeface="Aptos"/>
              </a:defRPr>
            </a:pPr>
            <a:r>
              <a:t>Taher Amine ELHOUARI · Academic research demonstrator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 b="1">
                <a:solidFill>
                  <a:srgbClr val="43E5C5"/>
                </a:solidFill>
                <a:latin typeface="Aptos"/>
              </a:defRPr>
            </a:pPr>
            <a:r>
              <a:t>CYBERRESILIENCE CLOUD   /   SOFTWARE ENGINEERING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700" b="1">
                <a:solidFill>
                  <a:srgbClr val="FFFFFF"/>
                </a:solidFill>
                <a:latin typeface="Aptos"/>
              </a:defRPr>
            </a:pPr>
            <a:r>
              <a:t>The real-world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D5E5F1"/>
                </a:solidFill>
                <a:latin typeface="Aptos"/>
              </a:defRPr>
            </a:pPr>
            <a:r>
              <a:t>Resource-constrained teams have difficulty turning broad cybersecurity guidance into decisions.</a:t>
            </a:r>
          </a:p>
          <a:p>
            <a:pPr>
              <a:spcAft>
                <a:spcPts val="1300"/>
              </a:spcAft>
              <a:defRPr sz="2200" b="0">
                <a:solidFill>
                  <a:srgbClr val="D5E5F1"/>
                </a:solidFill>
                <a:latin typeface="Aptos"/>
              </a:defRPr>
            </a:pPr>
            <a:r>
              <a:t>Our response: 18 clear questions, six functions, three prioritized 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8FA6BE"/>
                </a:solidFill>
                <a:latin typeface="Aptos"/>
              </a:defRPr>
            </a:pPr>
            <a:r>
              <a:t>Taher Amine ELHOUARI · Academic research demonstrator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 b="1">
                <a:solidFill>
                  <a:srgbClr val="43E5C5"/>
                </a:solidFill>
                <a:latin typeface="Aptos"/>
              </a:defRPr>
            </a:pPr>
            <a:r>
              <a:t>CYBERRESILIENCE CLOUD   /   SOFTWARE ENGINEERING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700" b="1">
                <a:solidFill>
                  <a:srgbClr val="FFFFFF"/>
                </a:solidFill>
                <a:latin typeface="Aptos"/>
              </a:defRPr>
            </a:pPr>
            <a:r>
              <a:t>Research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D5E5F1"/>
                </a:solidFill>
                <a:latin typeface="Aptos"/>
              </a:defRPr>
            </a:pPr>
            <a:r>
              <a:t>NIST CSF 2.0: six outcome areas</a:t>
            </a:r>
          </a:p>
          <a:p>
            <a:pPr>
              <a:spcAft>
                <a:spcPts val="1300"/>
              </a:spcAft>
              <a:defRPr sz="2200" b="0">
                <a:solidFill>
                  <a:srgbClr val="D5E5F1"/>
                </a:solidFill>
                <a:latin typeface="Aptos"/>
              </a:defRPr>
            </a:pPr>
            <a:r>
              <a:t>NIST SP 1300: small-business entry point</a:t>
            </a:r>
          </a:p>
          <a:p>
            <a:pPr>
              <a:spcAft>
                <a:spcPts val="1300"/>
              </a:spcAft>
              <a:defRPr sz="2200" b="0">
                <a:solidFill>
                  <a:srgbClr val="D5E5F1"/>
                </a:solidFill>
                <a:latin typeface="Aptos"/>
              </a:defRPr>
            </a:pPr>
            <a:r>
              <a:t>CISA CPGs: achievable high-impact measures</a:t>
            </a:r>
          </a:p>
          <a:p>
            <a:pPr>
              <a:spcAft>
                <a:spcPts val="1300"/>
              </a:spcAft>
              <a:defRPr sz="2200" b="0">
                <a:solidFill>
                  <a:srgbClr val="D5E5F1"/>
                </a:solidFill>
                <a:latin typeface="Aptos"/>
              </a:defRPr>
            </a:pPr>
            <a:r>
              <a:t>OWASP ASVS: web application security mindset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8FA6BE"/>
                </a:solidFill>
                <a:latin typeface="Aptos"/>
              </a:defRPr>
            </a:pPr>
            <a:r>
              <a:t>Taher Amine ELHOUARI · Academic research demonstrator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 b="1">
                <a:solidFill>
                  <a:srgbClr val="43E5C5"/>
                </a:solidFill>
                <a:latin typeface="Aptos"/>
              </a:defRPr>
            </a:pPr>
            <a:r>
              <a:t>CYBERRESILIENCE CLOUD   /   SOFTWARE ENGINEERING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700" b="1">
                <a:solidFill>
                  <a:srgbClr val="FFFFFF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8FA6BE"/>
                </a:solidFill>
                <a:latin typeface="Aptos"/>
              </a:defRPr>
            </a:pPr>
            <a:r>
              <a:t>Taher Amine ELHOUARI · Academic research demonstrator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505456"/>
            <a:ext cx="2468880" cy="1508760"/>
          </a:xfrm>
          <a:prstGeom prst="roundRect">
            <a:avLst/>
          </a:prstGeom>
          <a:solidFill>
            <a:srgbClr val="0D263E"/>
          </a:solidFill>
          <a:ln w="12700">
            <a:solidFill>
              <a:srgbClr val="297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660904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3E4CF"/>
                </a:solidFill>
              </a:defRPr>
            </a:pPr>
            <a:r>
              <a:t>01 / 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16936"/>
            <a:ext cx="21396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AFE"/>
                </a:solidFill>
              </a:defRPr>
            </a:pPr>
            <a:r>
              <a:t>HTML  ·  CSS  ·  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55264"/>
            <a:ext cx="21396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8D6E0"/>
                </a:solidFill>
              </a:defRPr>
            </a:pPr>
            <a:r>
              <a:t>18-question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93592"/>
            <a:ext cx="21396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8D6E0"/>
                </a:solidFill>
              </a:defRPr>
            </a:pPr>
            <a:r>
              <a:t>Desktop + mobile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45536" y="3099816"/>
            <a:ext cx="20116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43E4CF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8144" y="2505456"/>
            <a:ext cx="2468880" cy="1508760"/>
          </a:xfrm>
          <a:prstGeom prst="roundRect">
            <a:avLst/>
          </a:prstGeom>
          <a:solidFill>
            <a:srgbClr val="0D263E"/>
          </a:solidFill>
          <a:ln w="12700">
            <a:solidFill>
              <a:srgbClr val="297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1024" y="2660904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3E4CF"/>
                </a:solidFill>
              </a:defRPr>
            </a:pPr>
            <a:r>
              <a:t>02 / HTTPS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2736" y="2916936"/>
            <a:ext cx="21396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AFE"/>
                </a:solidFill>
              </a:defRPr>
            </a:pPr>
            <a:r>
              <a:t>Existing TaherAmine.org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2736" y="3255264"/>
            <a:ext cx="21396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8D6E0"/>
                </a:solidFill>
              </a:defRPr>
            </a:pPr>
            <a:r>
              <a:t>Namecheap cPanel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3593592"/>
            <a:ext cx="21396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8D6E0"/>
                </a:solidFill>
              </a:defRPr>
            </a:pPr>
            <a:r>
              <a:t>Apache / LiteSpeed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6752" y="3099816"/>
            <a:ext cx="20116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43E4CF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505456"/>
            <a:ext cx="2468880" cy="1508760"/>
          </a:xfrm>
          <a:prstGeom prst="roundRect">
            <a:avLst/>
          </a:prstGeom>
          <a:solidFill>
            <a:srgbClr val="0D263E"/>
          </a:solidFill>
          <a:ln w="12700">
            <a:solidFill>
              <a:srgbClr val="297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660904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3E4CF"/>
                </a:solidFill>
              </a:defRPr>
            </a:pPr>
            <a:r>
              <a:t>03 /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916936"/>
            <a:ext cx="21396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AFE"/>
                </a:solidFill>
              </a:defRPr>
            </a:pPr>
            <a:r>
              <a:t>score.php  ·  health.php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255264"/>
            <a:ext cx="21396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8D6E0"/>
                </a:solidFill>
              </a:defRPr>
            </a:pPr>
            <a:r>
              <a:t>Strict JSON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593592"/>
            <a:ext cx="21396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8D6E0"/>
                </a:solidFill>
              </a:defRPr>
            </a:pPr>
            <a:r>
              <a:t>No-store HTTP 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8" y="3099816"/>
            <a:ext cx="20116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43E4CF"/>
                </a:solidFill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0576" y="2505456"/>
            <a:ext cx="2468880" cy="1508760"/>
          </a:xfrm>
          <a:prstGeom prst="roundRect">
            <a:avLst/>
          </a:prstGeom>
          <a:solidFill>
            <a:srgbClr val="0D263E"/>
          </a:solidFill>
          <a:ln w="12700">
            <a:solidFill>
              <a:srgbClr val="297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63455" y="2660904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3E4CF"/>
                </a:solidFill>
              </a:defRPr>
            </a:pPr>
            <a:r>
              <a:t>04 /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7" y="2916936"/>
            <a:ext cx="21396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AFE"/>
                </a:solidFill>
              </a:defRPr>
            </a:pPr>
            <a:r>
              <a:t>src/scoring.php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5167" y="3255264"/>
            <a:ext cx="21396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8D6E0"/>
                </a:solidFill>
              </a:defRPr>
            </a:pPr>
            <a:r>
              <a:t>6 function readiness scores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5167" y="3593592"/>
            <a:ext cx="213969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8D6E0"/>
                </a:solidFill>
              </a:defRPr>
            </a:pPr>
            <a:r>
              <a:t>3 priority recommendations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480560"/>
            <a:ext cx="5321808" cy="932688"/>
          </a:xfrm>
          <a:prstGeom prst="roundRect">
            <a:avLst/>
          </a:prstGeom>
          <a:solidFill>
            <a:srgbClr val="0C2033"/>
          </a:solidFill>
          <a:ln>
            <a:solidFill>
              <a:srgbClr val="2B4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4599432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FC9FB"/>
                </a:solidFill>
              </a:defRPr>
            </a:pPr>
            <a:r>
              <a:t>SOURCE CONTROL + CI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4937760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8D6E0"/>
                </a:solidFill>
              </a:defRPr>
            </a:pPr>
            <a:r>
              <a:t>MSc GitHub repo  ·  PHP tests  ·  release ZIP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480560"/>
            <a:ext cx="5449824" cy="932688"/>
          </a:xfrm>
          <a:prstGeom prst="roundRect">
            <a:avLst/>
          </a:prstGeom>
          <a:solidFill>
            <a:srgbClr val="0C2033"/>
          </a:solidFill>
          <a:ln>
            <a:solidFill>
              <a:srgbClr val="2B4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4599432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7C69A"/>
                </a:solidFill>
              </a:defRPr>
            </a:pPr>
            <a:r>
              <a:t>FUTURE DATABASE 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4937760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8D6E0"/>
                </a:solidFill>
              </a:defRPr>
            </a:pPr>
            <a:r>
              <a:t>MySQL schema documented  ·  NOT deployed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 b="1">
                <a:solidFill>
                  <a:srgbClr val="43E5C5"/>
                </a:solidFill>
                <a:latin typeface="Aptos"/>
              </a:defRPr>
            </a:pPr>
            <a:r>
              <a:t>CYBERRESILIENCE CLOUD   /   SOFTWARE ENGINEERING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700" b="1">
                <a:solidFill>
                  <a:srgbClr val="FFFFFF"/>
                </a:solidFill>
                <a:latin typeface="Aptos"/>
              </a:defRPr>
            </a:pPr>
            <a:r>
              <a:t>Product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D5E5F1"/>
                </a:solidFill>
                <a:latin typeface="Aptos"/>
              </a:defRPr>
            </a:pPr>
            <a:r>
              <a:t>Visit home page → start assessment → answer 18 questions → calculate readiness → explore priorities → save to 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8FA6BE"/>
                </a:solidFill>
                <a:latin typeface="Aptos"/>
              </a:defRPr>
            </a:pPr>
            <a:r>
              <a:t>Taher Amine ELHOUARI · Academic research demonstrator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 b="1">
                <a:solidFill>
                  <a:srgbClr val="43E5C5"/>
                </a:solidFill>
                <a:latin typeface="Aptos"/>
              </a:defRPr>
            </a:pPr>
            <a:r>
              <a:t>CYBERRESILIENCE CLOUD   /   SOFTWARE ENGINEERING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700" b="1">
                <a:solidFill>
                  <a:srgbClr val="FFFFFF"/>
                </a:solidFill>
                <a:latin typeface="Aptos"/>
              </a:defRPr>
            </a:pPr>
            <a:r>
              <a:t>Transparent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D5E5F1"/>
                </a:solidFill>
                <a:latin typeface="Aptos"/>
              </a:defRPr>
            </a:pPr>
            <a:r>
              <a:t>Domain = sum of three responses ÷ 12 × 100</a:t>
            </a:r>
          </a:p>
          <a:p>
            <a:pPr>
              <a:spcAft>
                <a:spcPts val="1300"/>
              </a:spcAft>
              <a:defRPr sz="2200" b="0">
                <a:solidFill>
                  <a:srgbClr val="D5E5F1"/>
                </a:solidFill>
                <a:latin typeface="Aptos"/>
              </a:defRPr>
            </a:pPr>
            <a:r>
              <a:t>Overall = mean of six domain results</a:t>
            </a:r>
          </a:p>
          <a:p>
            <a:pPr>
              <a:spcAft>
                <a:spcPts val="1300"/>
              </a:spcAft>
              <a:defRPr sz="2200" b="0">
                <a:solidFill>
                  <a:srgbClr val="D5E5F1"/>
                </a:solidFill>
                <a:latin typeface="Aptos"/>
              </a:defRPr>
            </a:pPr>
            <a:r>
              <a:t>Project-defined bands: Initial · Developing · Defined · Adaptive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8FA6BE"/>
                </a:solidFill>
                <a:latin typeface="Aptos"/>
              </a:defRPr>
            </a:pPr>
            <a:r>
              <a:t>Taher Amine ELHOUARI · Academic research demonstrator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 b="1">
                <a:solidFill>
                  <a:srgbClr val="43E5C5"/>
                </a:solidFill>
                <a:latin typeface="Aptos"/>
              </a:defRPr>
            </a:pPr>
            <a:r>
              <a:t>CYBERRESILIENCE CLOUD   /   SOFTWARE ENGINEERING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700" b="1">
                <a:solidFill>
                  <a:srgbClr val="FFFFFF"/>
                </a:solidFill>
                <a:latin typeface="Aptos"/>
              </a:defRPr>
            </a:pPr>
            <a:r>
              <a:t>Security and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D5E5F1"/>
                </a:solidFill>
                <a:latin typeface="Aptos"/>
              </a:defRPr>
            </a:pPr>
            <a:r>
              <a:t>Strict API validation and method checks</a:t>
            </a:r>
          </a:p>
          <a:p>
            <a:pPr>
              <a:spcAft>
                <a:spcPts val="1300"/>
              </a:spcAft>
              <a:defRPr sz="2200" b="0">
                <a:solidFill>
                  <a:srgbClr val="D5E5F1"/>
                </a:solidFill>
                <a:latin typeface="Aptos"/>
              </a:defRPr>
            </a:pPr>
            <a:r>
              <a:t>No application-level response storage</a:t>
            </a:r>
          </a:p>
          <a:p>
            <a:pPr>
              <a:spcAft>
                <a:spcPts val="1300"/>
              </a:spcAft>
              <a:defRPr sz="2200" b="0">
                <a:solidFill>
                  <a:srgbClr val="D5E5F1"/>
                </a:solidFill>
                <a:latin typeface="Aptos"/>
              </a:defRPr>
            </a:pPr>
            <a:r>
              <a:t>No-store API responses, restrictive browser headers</a:t>
            </a:r>
          </a:p>
          <a:p>
            <a:pPr>
              <a:spcAft>
                <a:spcPts val="1300"/>
              </a:spcAft>
              <a:defRPr sz="2200" b="0">
                <a:solidFill>
                  <a:srgbClr val="D5E5F1"/>
                </a:solidFill>
                <a:latin typeface="Aptos"/>
              </a:defRPr>
            </a:pPr>
            <a:r>
              <a:t>No claim of formal compliance or certification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8FA6BE"/>
                </a:solidFill>
                <a:latin typeface="Aptos"/>
              </a:defRPr>
            </a:pPr>
            <a:r>
              <a:t>Taher Amine ELHOUARI · Academic research demonstrator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 b="1">
                <a:solidFill>
                  <a:srgbClr val="43E5C5"/>
                </a:solidFill>
                <a:latin typeface="Aptos"/>
              </a:defRPr>
            </a:pPr>
            <a:r>
              <a:t>CYBERRESILIENCE CLOUD   /   SOFTWARE ENGINEERING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700" b="1">
                <a:solidFill>
                  <a:srgbClr val="FFFFFF"/>
                </a:solidFill>
                <a:latin typeface="Aptos"/>
              </a:defRPr>
            </a:pPr>
            <a:r>
              <a:t>Verification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9 of 9 PHP unit tests passed</a:t>
            </a:r>
          </a:p>
          <a:p>
            <a:r>
              <a:t>PHP syntax checks passed; live health check pending</a:t>
            </a:r>
          </a:p>
          <a:p>
            <a:r>
              <a:t>Home page returned HTTP 200 locally</a:t>
            </a:r>
          </a:p>
          <a:p>
            <a:r>
              <a:t>Website release is PENDING cPanel upload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8FA6BE"/>
                </a:solidFill>
                <a:latin typeface="Aptos"/>
              </a:defRPr>
            </a:pPr>
            <a:r>
              <a:t>Taher Amine ELHOUARI · Academic research demonstrator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 b="1">
                <a:solidFill>
                  <a:srgbClr val="43E5C5"/>
                </a:solidFill>
                <a:latin typeface="Aptos"/>
              </a:defRPr>
            </a:pPr>
            <a:r>
              <a:t>CYBERRESILIENCE CLOUD   /   SOFTWARE ENGINEERING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700" b="1">
                <a:solidFill>
                  <a:srgbClr val="FFFFFF"/>
                </a:solidFill>
                <a:latin typeface="Aptos"/>
              </a:defRPr>
            </a:pPr>
            <a:r>
              <a:t>Limitations &amp; responsible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18 self-reported questions are not a professional assessment</a:t>
            </a:r>
          </a:p>
          <a:p>
            <a:r>
              <a:t>Future: tenant-specific history, evidence, access controls, monitoring</a:t>
            </a:r>
          </a:p>
          <a:p>
            <a:r>
              <a:t>Site upload and GitHub commit pending — verify URLs before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8FA6BE"/>
                </a:solidFill>
                <a:latin typeface="Aptos"/>
              </a:defRPr>
            </a:pPr>
            <a:r>
              <a:t>Taher Amine ELHOUARI · Academic research demonstrator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 b="1">
                <a:solidFill>
                  <a:srgbClr val="43E5C5"/>
                </a:solidFill>
                <a:latin typeface="Aptos"/>
              </a:defRPr>
            </a:pPr>
            <a:r>
              <a:t>CYBERRESILIENCE CLOUD   /   SOFTWARE ENGINEERING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700" b="1">
                <a:solidFill>
                  <a:srgbClr val="FFFFFF"/>
                </a:solidFill>
                <a:latin typeface="Aptos"/>
              </a:defRPr>
            </a:pPr>
            <a:r>
              <a:t>Conclusion &amp; resubmission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D5E5F1"/>
                </a:solidFill>
                <a:latin typeface="Aptos"/>
              </a:defRPr>
            </a:pPr>
            <a:r>
              <a:t>Source code · tests · architecture visual · report · ten-minute script</a:t>
            </a:r>
          </a:p>
          <a:p>
            <a:pPr>
              <a:spcAft>
                <a:spcPts val="1300"/>
              </a:spcAft>
              <a:defRPr sz="2200" b="0">
                <a:solidFill>
                  <a:srgbClr val="D5E5F1"/>
                </a:solidFill>
                <a:latin typeface="Aptos"/>
              </a:defRPr>
            </a:pPr>
            <a:r>
              <a:t>Record and link the demo; publish and verify the actual production URL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8FA6BE"/>
                </a:solidFill>
                <a:latin typeface="Aptos"/>
              </a:defRPr>
            </a:pPr>
            <a:r>
              <a:t>Taher Amine ELHOUARI · Academic research demonstrator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